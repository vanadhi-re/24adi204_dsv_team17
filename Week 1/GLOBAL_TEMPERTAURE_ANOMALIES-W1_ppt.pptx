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67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8/18/2026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350008"/>
            <a:ext cx="7077456" cy="1243584"/>
          </a:xfrm>
        </p:spPr>
        <p:txBody>
          <a:bodyPr/>
          <a:lstStyle/>
          <a:p>
            <a:r>
              <a:rPr lang="en-US" sz="4800" dirty="0"/>
              <a:t>GLOBAL TEMPERTAURE ANOMALIES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9"/>
            <a:ext cx="7077456" cy="868680"/>
          </a:xfrm>
        </p:spPr>
        <p:txBody>
          <a:bodyPr>
            <a:normAutofit/>
          </a:bodyPr>
          <a:lstStyle/>
          <a:p>
            <a:r>
              <a:rPr lang="en-IN" dirty="0"/>
              <a:t>"</a:t>
            </a:r>
            <a:r>
              <a:rPr lang="en-IN" sz="1500" dirty="0"/>
              <a:t>The Heat is On: A visual timeline of Global Warming."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E3C52-1199-25D7-5077-EF5AC8D3F6A6}"/>
              </a:ext>
            </a:extLst>
          </p:cNvPr>
          <p:cNvSpPr txBox="1"/>
          <p:nvPr/>
        </p:nvSpPr>
        <p:spPr>
          <a:xfrm>
            <a:off x="6300216" y="5408474"/>
            <a:ext cx="889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ea typeface="Arimo Bold"/>
                <a:cs typeface="Arimo Bold"/>
                <a:sym typeface="Arimo Bold"/>
              </a:rPr>
              <a:t>Course: </a:t>
            </a:r>
            <a:r>
              <a:rPr lang="en-US" dirty="0">
                <a:solidFill>
                  <a:srgbClr val="FFFFFF"/>
                </a:solidFill>
                <a:ea typeface="Arimo"/>
                <a:cs typeface="Arimo"/>
                <a:sym typeface="Arimo"/>
              </a:rPr>
              <a:t>24ADI204-Data Science and Visualization</a:t>
            </a:r>
          </a:p>
          <a:p>
            <a:r>
              <a:rPr lang="en-US" b="1" dirty="0">
                <a:solidFill>
                  <a:srgbClr val="FFFFFF"/>
                </a:solidFill>
                <a:ea typeface="Arimo Bold"/>
                <a:cs typeface="Arimo Bold"/>
                <a:sym typeface="Arimo Bold"/>
              </a:rPr>
              <a:t>Faculty Mentor: </a:t>
            </a:r>
            <a:r>
              <a:rPr lang="en-US" dirty="0">
                <a:solidFill>
                  <a:srgbClr val="FFFFFF"/>
                </a:solidFill>
                <a:ea typeface="Arimo"/>
                <a:cs typeface="Arimo"/>
                <a:sym typeface="Arimo"/>
              </a:rPr>
              <a:t>Ms. </a:t>
            </a:r>
            <a:r>
              <a:rPr lang="en-US" dirty="0" err="1">
                <a:solidFill>
                  <a:srgbClr val="FFFFFF"/>
                </a:solidFill>
                <a:ea typeface="Arimo"/>
                <a:cs typeface="Arimo"/>
                <a:sym typeface="Arimo"/>
              </a:rPr>
              <a:t>Rupashini</a:t>
            </a:r>
            <a:r>
              <a:rPr lang="en-US" dirty="0">
                <a:solidFill>
                  <a:srgbClr val="FFFFFF"/>
                </a:solidFill>
                <a:ea typeface="Arimo"/>
                <a:cs typeface="Arimo"/>
                <a:sym typeface="Arimo"/>
              </a:rPr>
              <a:t> PR </a:t>
            </a:r>
          </a:p>
          <a:p>
            <a:r>
              <a:rPr lang="en-US" dirty="0">
                <a:solidFill>
                  <a:srgbClr val="FFFFFF"/>
                </a:solidFill>
                <a:ea typeface="Arimo"/>
                <a:cs typeface="Arimo"/>
                <a:sym typeface="Arimo"/>
              </a:rPr>
              <a:t>Department of Artificial Intelligence and Data Science </a:t>
            </a:r>
          </a:p>
          <a:p>
            <a:endParaRPr lang="en-US" dirty="0">
              <a:solidFill>
                <a:srgbClr val="FFFFFF"/>
              </a:solidFill>
              <a:ea typeface="Arimo"/>
              <a:cs typeface="Arimo"/>
              <a:sym typeface="Arimo"/>
            </a:endParaRPr>
          </a:p>
          <a:p>
            <a:endParaRPr lang="en-US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BCFA2-E4FD-E713-6BB6-32FF89940C1A}"/>
              </a:ext>
            </a:extLst>
          </p:cNvPr>
          <p:cNvSpPr txBox="1"/>
          <p:nvPr/>
        </p:nvSpPr>
        <p:spPr>
          <a:xfrm>
            <a:off x="9997440" y="419834"/>
            <a:ext cx="249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TEAM 17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17" y="1051560"/>
            <a:ext cx="7781544" cy="859055"/>
          </a:xfrm>
        </p:spPr>
        <p:txBody>
          <a:bodyPr>
            <a:normAutofit/>
          </a:bodyPr>
          <a:lstStyle/>
          <a:p>
            <a:r>
              <a:rPr lang="en-US" sz="3600" dirty="0"/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784" y="2265680"/>
            <a:ext cx="8055610" cy="3926840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Climate change is reflected in long-term changes in Earth’s surface temperature.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This project studies historical temperature records across countries over approximately the last 100+ years.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 </a:t>
            </a:r>
            <a:r>
              <a:rPr lang="en-IN" b="1" dirty="0">
                <a:solidFill>
                  <a:schemeClr val="bg1"/>
                </a:solidFill>
              </a:rPr>
              <a:t>Berkeley Earth Surface Temperature dataset</a:t>
            </a:r>
            <a:r>
              <a:rPr lang="en-IN" dirty="0">
                <a:solidFill>
                  <a:schemeClr val="bg1"/>
                </a:solidFill>
              </a:rPr>
              <a:t> is used to study long-term temperature patterns.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project transforms complex climate records into an intuitive visual story.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Warming stripes</a:t>
            </a:r>
            <a:r>
              <a:rPr lang="en-IN" dirty="0">
                <a:solidFill>
                  <a:schemeClr val="bg1"/>
                </a:solidFill>
              </a:rPr>
              <a:t> use blue for cooler anomalies and red for warmer anomalies.</a:t>
            </a:r>
          </a:p>
          <a:p>
            <a:br>
              <a:rPr lang="en-IN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41400"/>
            <a:ext cx="7781544" cy="859055"/>
          </a:xfrm>
        </p:spPr>
        <p:txBody>
          <a:bodyPr>
            <a:normAutofit/>
          </a:bodyPr>
          <a:lstStyle/>
          <a:p>
            <a:r>
              <a:rPr lang="en-US" sz="3600" dirty="0"/>
              <a:t>PROBLEM STATEMENT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720" y="2291396"/>
            <a:ext cx="7781544" cy="4206241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Historical temperature records span many years and locations and may contain gaps or irregular observations.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Large tables of temperature measurements do not immediately communicate long-term warming patterns.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 systematic data-science approach is required to clean, </a:t>
            </a:r>
            <a:r>
              <a:rPr lang="en-IN" dirty="0" err="1">
                <a:solidFill>
                  <a:schemeClr val="bg1"/>
                </a:solidFill>
              </a:rPr>
              <a:t>analyze</a:t>
            </a:r>
            <a:r>
              <a:rPr lang="en-IN" dirty="0">
                <a:solidFill>
                  <a:schemeClr val="bg1"/>
                </a:solidFill>
              </a:rPr>
              <a:t>, and visualize temperature changes.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sz="2000" b="1" dirty="0">
                <a:solidFill>
                  <a:schemeClr val="bg1"/>
                </a:solidFill>
              </a:rPr>
              <a:t>Main question:</a:t>
            </a:r>
            <a:r>
              <a:rPr lang="en-IN" sz="2000" dirty="0">
                <a:solidFill>
                  <a:schemeClr val="bg1"/>
                </a:solidFill>
              </a:rPr>
              <a:t> </a:t>
            </a:r>
          </a:p>
          <a:p>
            <a:pPr lvl="0"/>
            <a:r>
              <a:rPr lang="en-IN" sz="2000" dirty="0">
                <a:solidFill>
                  <a:schemeClr val="bg1"/>
                </a:solidFill>
              </a:rPr>
              <a:t>“</a:t>
            </a:r>
            <a:r>
              <a:rPr lang="en-IN" dirty="0">
                <a:solidFill>
                  <a:schemeClr val="bg1"/>
                </a:solidFill>
              </a:rPr>
              <a:t>How have temperature anomalies changed around the world during the last century?”</a:t>
            </a:r>
            <a:br>
              <a:rPr lang="en-IN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1362066"/>
            <a:ext cx="11214100" cy="590931"/>
          </a:xfrm>
        </p:spPr>
        <p:txBody>
          <a:bodyPr/>
          <a:lstStyle/>
          <a:p>
            <a:r>
              <a:rPr lang="en-US" sz="3600" dirty="0"/>
              <a:t>CHALLENGE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2221832"/>
            <a:ext cx="8021320" cy="4093243"/>
          </a:xfrm>
        </p:spPr>
        <p:txBody>
          <a:bodyPr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Handle historical data gaps and missing temperature observations.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Identify and investigate unusual or potentially erroneous temperature values.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Convert monthly observations into comparable annual temperature measures.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Define and justify a suitable reference period for calculating temperature anomalies.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Create an animated visualization that clearly shows the progression of global warming.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1589405"/>
            <a:ext cx="11214100" cy="590931"/>
          </a:xfrm>
        </p:spPr>
        <p:txBody>
          <a:bodyPr/>
          <a:lstStyle/>
          <a:p>
            <a:r>
              <a:rPr lang="en-US" sz="3600" dirty="0"/>
              <a:t>OBJECTIVES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02920" y="2451131"/>
            <a:ext cx="7480300" cy="3684588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Clean and validate historical surface-temperature data.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Handle missing observations using an appropriate technique such as interpolation.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Detect and investigate outliers using IQR or Z-score methods.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Calculate annual temperatures and temperature anomalies.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Perform statistical analysis, transformations, correlation analysis, and PCA.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Build an interactive visual story using warming stripes, heatmaps, trend charts, and an animated world map</a:t>
            </a:r>
            <a:r>
              <a:rPr lang="en-IN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8182-2288-3FF6-E11D-7B220282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695325"/>
            <a:ext cx="11214100" cy="590931"/>
          </a:xfrm>
        </p:spPr>
        <p:txBody>
          <a:bodyPr/>
          <a:lstStyle/>
          <a:p>
            <a:r>
              <a:rPr lang="en-US" sz="3600" dirty="0"/>
              <a:t>DATASET DESCRIPTION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D57369-8DBA-5609-A75E-3D3CD58F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90447-6AF3-36FF-AE67-1AC83DB99E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9620" y="1382378"/>
            <a:ext cx="6718300" cy="4932697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b="1" spc="300" dirty="0"/>
              <a:t>Dataset Name: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spc="300" dirty="0"/>
              <a:t>    Berkeley Earth Surface Temperature Data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b="1" spc="300" dirty="0"/>
              <a:t>Source: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spc="300" dirty="0"/>
              <a:t>    Kaggle / Berkeley Earth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b="1" spc="300" dirty="0"/>
              <a:t>Dataset Characteristics: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Large-scale historical climate dataset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Global temperature observations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Covers multiple countries and regions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Contains long-term temperature records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Monthly temperature observations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Includes temperature uncertainty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Historical data gaps may be present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Suitable for time-series and geographical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302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5732-DEFC-2559-E43D-D88BB641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756285"/>
            <a:ext cx="11214100" cy="590931"/>
          </a:xfrm>
        </p:spPr>
        <p:txBody>
          <a:bodyPr/>
          <a:lstStyle/>
          <a:p>
            <a:r>
              <a:rPr lang="en-US" sz="3600" dirty="0"/>
              <a:t>TOOLS AND TECHNOLOGIES USED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DD8DAD-6683-7422-6DDD-1F376141E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8E399-36BD-D9F7-9B33-3BF2212F8C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" y="1615225"/>
            <a:ext cx="7978140" cy="4592535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b="1" spc="300" dirty="0"/>
              <a:t>Python — Core programming and analysis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Pandas — Data loading, cleaning, and preprocessing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NumPy — Numerical computation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Matplotlib — Data visualization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Seaborn — Statistical visualization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Scikit-learn — Scaling, transformations, and PCA</a:t>
            </a:r>
          </a:p>
          <a:p>
            <a:pPr lvl="0">
              <a:lnSpc>
                <a:spcPct val="150000"/>
              </a:lnSpc>
            </a:pPr>
            <a:r>
              <a:rPr lang="en-IN" b="1" spc="300" dirty="0" err="1"/>
              <a:t>Plotly</a:t>
            </a:r>
            <a:r>
              <a:rPr lang="en-IN" b="1" spc="300" dirty="0"/>
              <a:t> — Interactive charts and animated maps</a:t>
            </a:r>
          </a:p>
          <a:p>
            <a:pPr lvl="0">
              <a:lnSpc>
                <a:spcPct val="150000"/>
              </a:lnSpc>
            </a:pPr>
            <a:r>
              <a:rPr lang="en-IN" b="1" spc="300" dirty="0" err="1"/>
              <a:t>Streamlit</a:t>
            </a:r>
            <a:r>
              <a:rPr lang="en-IN" b="1" spc="300" dirty="0"/>
              <a:t> — Interactive dashboard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GitHub — Version control and project management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782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5B77-4A7B-DE79-D6BD-EEFD1CBD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" y="700840"/>
            <a:ext cx="11214100" cy="590931"/>
          </a:xfrm>
        </p:spPr>
        <p:txBody>
          <a:bodyPr/>
          <a:lstStyle/>
          <a:p>
            <a:r>
              <a:rPr lang="en-US" sz="3600" dirty="0"/>
              <a:t>METHODOLOGY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DAD5FB-B82B-8DF0-F981-0A9FBF0C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67795-9F62-0E0D-B737-E695B19D4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464491"/>
            <a:ext cx="10807700" cy="554082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spc="300" dirty="0"/>
              <a:t>Data Collection:</a:t>
            </a:r>
            <a:br>
              <a:rPr lang="en-IN" b="1" spc="300" dirty="0"/>
            </a:br>
            <a:r>
              <a:rPr lang="en-IN" b="1" spc="300" dirty="0"/>
              <a:t>       </a:t>
            </a:r>
            <a:r>
              <a:rPr lang="en-IN" spc="300" dirty="0"/>
              <a:t>Collect the raw Berkeley Earth Surface Temperature dataset from Kaggle.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spc="300" dirty="0"/>
              <a:t>Data Understanding:</a:t>
            </a:r>
            <a:br>
              <a:rPr lang="en-IN" b="1" spc="300" dirty="0"/>
            </a:br>
            <a:r>
              <a:rPr lang="en-IN" b="1" spc="300" dirty="0"/>
              <a:t>       </a:t>
            </a:r>
            <a:r>
              <a:rPr lang="en-IN" spc="300" dirty="0"/>
              <a:t>Examine the dataset structure, data types, date range, countries, and key attributes.</a:t>
            </a:r>
            <a:br>
              <a:rPr lang="en-IN" spc="300" dirty="0"/>
            </a:br>
            <a:r>
              <a:rPr lang="en-IN" spc="300" dirty="0"/>
              <a:t>       Generate an initial data quality report.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b="1" spc="300" dirty="0"/>
              <a:t>Data Preprocessing:</a:t>
            </a:r>
            <a:br>
              <a:rPr lang="en-IN" b="1" spc="300" dirty="0"/>
            </a:br>
            <a:r>
              <a:rPr lang="en-IN" b="1" spc="300" dirty="0"/>
              <a:t>       </a:t>
            </a:r>
            <a:r>
              <a:rPr lang="en-IN" spc="300" dirty="0"/>
              <a:t>Handle missing historical temperature observations.</a:t>
            </a:r>
            <a:br>
              <a:rPr lang="en-IN" spc="300" dirty="0"/>
            </a:br>
            <a:r>
              <a:rPr lang="en-IN" spc="300" dirty="0"/>
              <a:t>       Remove duplicate records where applicable.</a:t>
            </a:r>
            <a:br>
              <a:rPr lang="en-IN" spc="300" dirty="0"/>
            </a:br>
            <a:r>
              <a:rPr lang="en-IN" spc="300" dirty="0"/>
              <a:t>       Format and standardize date and time fields.</a:t>
            </a:r>
            <a:br>
              <a:rPr lang="en-IN" spc="300" dirty="0"/>
            </a:br>
            <a:r>
              <a:rPr lang="en-IN" spc="300" dirty="0"/>
              <a:t>       Convert monthly observations into yearly averages.</a:t>
            </a:r>
            <a:br>
              <a:rPr lang="en-IN" spc="300" dirty="0"/>
            </a:br>
            <a:r>
              <a:rPr lang="en-IN" spc="300" dirty="0"/>
              <a:t>       Detect and investigate outliers using statistical techniques.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70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ED91B5-3BF0-EF86-A0A1-66D82EBD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1AE5D-60BE-B0E8-C85D-C873B9485B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640" y="646928"/>
            <a:ext cx="10957560" cy="5850709"/>
          </a:xfrm>
        </p:spPr>
        <p:txBody>
          <a:bodyPr/>
          <a:lstStyle/>
          <a:p>
            <a:pPr marL="0" indent="0">
              <a:buNone/>
            </a:pPr>
            <a:r>
              <a:rPr lang="en-IN" b="1" spc="300" dirty="0"/>
              <a:t>Temperature Anomaly Calculation:</a:t>
            </a:r>
            <a:br>
              <a:rPr lang="en-IN" b="1" spc="300" dirty="0"/>
            </a:br>
            <a:r>
              <a:rPr lang="en-IN" b="1" spc="300" dirty="0"/>
              <a:t>       </a:t>
            </a:r>
            <a:r>
              <a:rPr lang="en-IN" spc="300" dirty="0"/>
              <a:t>Define an appropriate baseline/reference period.</a:t>
            </a:r>
            <a:br>
              <a:rPr lang="en-IN" spc="300" dirty="0"/>
            </a:br>
            <a:r>
              <a:rPr lang="en-IN" spc="300" dirty="0"/>
              <a:t>       Calculate temperature anomalies by comparing annual temperatures with the baseline</a:t>
            </a:r>
          </a:p>
          <a:p>
            <a:pPr marL="0" indent="0">
              <a:buNone/>
            </a:pPr>
            <a:r>
              <a:rPr lang="en-IN" spc="300" dirty="0"/>
              <a:t> </a:t>
            </a:r>
          </a:p>
          <a:p>
            <a:pPr marL="0" indent="0">
              <a:buNone/>
            </a:pPr>
            <a:r>
              <a:rPr lang="en-IN" b="1" spc="300" dirty="0"/>
              <a:t>Exploratory Data Analysis (EDA):</a:t>
            </a:r>
            <a:br>
              <a:rPr lang="en-IN" b="1" spc="300" dirty="0"/>
            </a:br>
            <a:r>
              <a:rPr lang="en-IN" b="1" spc="300" dirty="0"/>
              <a:t>	</a:t>
            </a:r>
            <a:r>
              <a:rPr lang="en-IN" spc="300" dirty="0" err="1"/>
              <a:t>Analyze</a:t>
            </a:r>
            <a:r>
              <a:rPr lang="en-IN" spc="300" dirty="0"/>
              <a:t> temperature patterns across years, decades, and countries.</a:t>
            </a:r>
            <a:br>
              <a:rPr lang="en-IN" spc="300" dirty="0"/>
            </a:br>
            <a:r>
              <a:rPr lang="en-IN" spc="300" dirty="0"/>
              <a:t>	Identify warming trends, variations, and geographical patterns using statistical visualizations</a:t>
            </a:r>
            <a:r>
              <a:rPr lang="en-IN" b="1" spc="300" dirty="0"/>
              <a:t>.</a:t>
            </a:r>
          </a:p>
          <a:p>
            <a:pPr marL="0" indent="0">
              <a:buNone/>
            </a:pPr>
            <a:endParaRPr lang="en-IN" b="1" spc="300" dirty="0"/>
          </a:p>
          <a:p>
            <a:pPr marL="0" indent="0">
              <a:buNone/>
            </a:pPr>
            <a:r>
              <a:rPr lang="en-IN" b="1" spc="300" dirty="0"/>
              <a:t>Statistical Analysis &amp; PCA:</a:t>
            </a:r>
            <a:br>
              <a:rPr lang="en-IN" b="1" spc="300" dirty="0"/>
            </a:br>
            <a:r>
              <a:rPr lang="en-IN" b="1" spc="300" dirty="0"/>
              <a:t>	</a:t>
            </a:r>
            <a:r>
              <a:rPr lang="en-IN" spc="300" dirty="0"/>
              <a:t>Calculate mean, median, variance, standard deviation, skewness, and kurtosis.</a:t>
            </a:r>
            <a:br>
              <a:rPr lang="en-IN" spc="300" dirty="0"/>
            </a:br>
            <a:r>
              <a:rPr lang="en-IN" spc="300" dirty="0"/>
              <a:t>	Apply appropriate scaling/transformation techniques.</a:t>
            </a:r>
            <a:br>
              <a:rPr lang="en-IN" spc="300" dirty="0"/>
            </a:br>
            <a:r>
              <a:rPr lang="en-IN" spc="300" dirty="0"/>
              <a:t>	Perform correlation analysis and Principal Component Analysis (PCA).</a:t>
            </a:r>
          </a:p>
          <a:p>
            <a:pPr marL="0" indent="0">
              <a:buNone/>
            </a:pPr>
            <a:endParaRPr lang="en-IN" spc="300" dirty="0"/>
          </a:p>
          <a:p>
            <a:pPr marL="0" indent="0">
              <a:buNone/>
            </a:pPr>
            <a:r>
              <a:rPr lang="en-IN" b="1" spc="300" dirty="0"/>
              <a:t>Visualization &amp; Dashboard:</a:t>
            </a:r>
            <a:br>
              <a:rPr lang="en-IN" b="1" spc="300" dirty="0"/>
            </a:br>
            <a:r>
              <a:rPr lang="en-IN" b="1" spc="300" dirty="0"/>
              <a:t>	</a:t>
            </a:r>
            <a:r>
              <a:rPr lang="en-IN" spc="300" dirty="0"/>
              <a:t>Create warming stripes, temperature trend charts, country-wise heatmaps, and an animated world map.</a:t>
            </a:r>
            <a:br>
              <a:rPr lang="en-IN" spc="300" dirty="0"/>
            </a:br>
            <a:r>
              <a:rPr lang="en-IN" spc="300" dirty="0"/>
              <a:t>	Develop an interactive dashboard to communicate the progression of global warming.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46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35F1-CF0B-FA07-0873-8AEF37BB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829691"/>
            <a:ext cx="11214100" cy="590931"/>
          </a:xfrm>
        </p:spPr>
        <p:txBody>
          <a:bodyPr/>
          <a:lstStyle/>
          <a:p>
            <a:r>
              <a:rPr lang="en-US" sz="3600" dirty="0"/>
              <a:t>DASHBOARD VISION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7EF26B-B89C-D8F6-1055-0B0BF009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CC3D6-F6E5-A3F4-57CA-A1DD76AB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555098"/>
            <a:ext cx="6228080" cy="475997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spc="300" dirty="0"/>
              <a:t>Country × Year Heatmap</a:t>
            </a:r>
          </a:p>
          <a:p>
            <a:pPr>
              <a:lnSpc>
                <a:spcPct val="150000"/>
              </a:lnSpc>
            </a:pPr>
            <a:r>
              <a:rPr lang="en-IN" b="1" spc="300" dirty="0"/>
              <a:t>X-axis: Year</a:t>
            </a:r>
          </a:p>
          <a:p>
            <a:pPr>
              <a:lnSpc>
                <a:spcPct val="150000"/>
              </a:lnSpc>
            </a:pPr>
            <a:r>
              <a:rPr lang="en-IN" b="1" spc="300" dirty="0"/>
              <a:t>Y-axis: Country / Region</a:t>
            </a:r>
          </a:p>
          <a:p>
            <a:pPr>
              <a:lnSpc>
                <a:spcPct val="150000"/>
              </a:lnSpc>
            </a:pPr>
            <a:r>
              <a:rPr lang="en-IN" b="1" spc="300" dirty="0" err="1"/>
              <a:t>Color</a:t>
            </a:r>
            <a:r>
              <a:rPr lang="en-IN" b="1" spc="300" dirty="0"/>
              <a:t>: Temperature Anomaly</a:t>
            </a:r>
          </a:p>
          <a:p>
            <a:pPr marL="0" indent="0">
              <a:lnSpc>
                <a:spcPct val="150000"/>
              </a:lnSpc>
              <a:buNone/>
            </a:pPr>
            <a:endParaRPr lang="en-IN" b="1" spc="300" dirty="0"/>
          </a:p>
          <a:p>
            <a:pPr marL="0" indent="0">
              <a:lnSpc>
                <a:spcPct val="150000"/>
              </a:lnSpc>
              <a:buNone/>
            </a:pPr>
            <a:r>
              <a:rPr lang="en-IN" b="1" spc="300" dirty="0" err="1"/>
              <a:t>Color</a:t>
            </a:r>
            <a:r>
              <a:rPr lang="en-IN" b="1" spc="300" dirty="0"/>
              <a:t> interpretation: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spc="300" dirty="0"/>
              <a:t>🔵 Blue → Negative temperature anomaly</a:t>
            </a:r>
            <a:br>
              <a:rPr lang="en-IN" b="1" spc="300" dirty="0"/>
            </a:br>
            <a:r>
              <a:rPr lang="en-IN" b="1" spc="300" dirty="0"/>
              <a:t>⚪ Neutral → Close to baseline</a:t>
            </a:r>
            <a:br>
              <a:rPr lang="en-IN" b="1" spc="300" dirty="0"/>
            </a:br>
            <a:r>
              <a:rPr lang="en-IN" b="1" spc="300" dirty="0"/>
              <a:t>🔴 Red → Positive temperature anomaly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89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068F51-8A61-28CF-4800-DF2A3789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D3E46F-A806-E6C3-8E15-422943EDBD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340" y="568959"/>
            <a:ext cx="9187180" cy="574611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b="1" spc="300" dirty="0"/>
              <a:t>Warming Stripes</a:t>
            </a:r>
          </a:p>
          <a:p>
            <a:pPr>
              <a:lnSpc>
                <a:spcPct val="150000"/>
              </a:lnSpc>
            </a:pPr>
            <a:r>
              <a:rPr lang="en-IN" spc="300" dirty="0"/>
              <a:t>Each year is represented by a vertical </a:t>
            </a:r>
            <a:r>
              <a:rPr lang="en-IN" spc="300" dirty="0" err="1"/>
              <a:t>colored</a:t>
            </a:r>
            <a:r>
              <a:rPr lang="en-IN" spc="300" dirty="0"/>
              <a:t> stripe.</a:t>
            </a:r>
          </a:p>
          <a:p>
            <a:pPr>
              <a:lnSpc>
                <a:spcPct val="150000"/>
              </a:lnSpc>
            </a:pPr>
            <a:r>
              <a:rPr lang="en-IN" spc="300" dirty="0"/>
              <a:t>The visualization provides a simple century-long view of temperature change.</a:t>
            </a:r>
          </a:p>
          <a:p>
            <a:pPr>
              <a:lnSpc>
                <a:spcPct val="150000"/>
              </a:lnSpc>
            </a:pPr>
            <a:r>
              <a:rPr lang="en-IN" spc="300" dirty="0"/>
              <a:t>The transition from predominantly blue to increasingly red shades visually communicates warming</a:t>
            </a:r>
          </a:p>
          <a:p>
            <a:pPr marL="0" indent="0">
              <a:lnSpc>
                <a:spcPct val="150000"/>
              </a:lnSpc>
              <a:buNone/>
            </a:pPr>
            <a:endParaRPr lang="en-IN" spc="3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b="1" spc="300" dirty="0"/>
              <a:t>Animated World Map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A year slider/play button allows users to move through time.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Country </a:t>
            </a:r>
            <a:r>
              <a:rPr lang="en-IN" spc="300" dirty="0" err="1"/>
              <a:t>colors</a:t>
            </a:r>
            <a:r>
              <a:rPr lang="en-IN" spc="300" dirty="0"/>
              <a:t> change according to their temperature anomaly.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Users can visually observe how temperature patterns evolve across the world.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62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AC84-F31B-BA76-44F6-E782C440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016626"/>
            <a:ext cx="11214100" cy="590931"/>
          </a:xfrm>
        </p:spPr>
        <p:txBody>
          <a:bodyPr/>
          <a:lstStyle/>
          <a:p>
            <a:r>
              <a:rPr lang="en-US" sz="3600" dirty="0"/>
              <a:t>EXPECTED OUTCOME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939FF-2E7C-A0A8-9EF1-12D63D92C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D2125-29BB-0ACA-BBB3-5BB98E142C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920851"/>
            <a:ext cx="9329420" cy="4093243"/>
          </a:xfrm>
        </p:spPr>
        <p:txBody>
          <a:bodyPr/>
          <a:lstStyle/>
          <a:p>
            <a:pPr lvl="0"/>
            <a:r>
              <a:rPr lang="en-IN" spc="300" dirty="0"/>
              <a:t>A cleaned and validated temperature dataset.</a:t>
            </a:r>
          </a:p>
          <a:p>
            <a:pPr lvl="0"/>
            <a:r>
              <a:rPr lang="en-IN" spc="300" dirty="0"/>
              <a:t>A complete data-quality report.</a:t>
            </a:r>
          </a:p>
          <a:p>
            <a:pPr lvl="0"/>
            <a:r>
              <a:rPr lang="en-IN" spc="300" dirty="0"/>
              <a:t>Proper handling of missing historical observations.</a:t>
            </a:r>
          </a:p>
          <a:p>
            <a:pPr lvl="0"/>
            <a:r>
              <a:rPr lang="en-IN" spc="300" dirty="0"/>
              <a:t>Identification and analysis of outliers.</a:t>
            </a:r>
          </a:p>
          <a:p>
            <a:pPr lvl="0"/>
            <a:r>
              <a:rPr lang="en-IN" spc="300" dirty="0"/>
              <a:t>Statistical evidence describing long-term temperature patterns.</a:t>
            </a:r>
          </a:p>
          <a:p>
            <a:pPr lvl="0"/>
            <a:r>
              <a:rPr lang="en-IN" spc="300" dirty="0"/>
              <a:t>Warming-stripes visualization showing temperature changes over time.</a:t>
            </a:r>
          </a:p>
          <a:p>
            <a:pPr lvl="0"/>
            <a:r>
              <a:rPr lang="en-IN" spc="300" dirty="0"/>
              <a:t>Country × Year heatmap showing geographical patterns.</a:t>
            </a:r>
          </a:p>
          <a:p>
            <a:pPr lvl="0"/>
            <a:r>
              <a:rPr lang="en-IN" spc="300" dirty="0"/>
              <a:t>Animated world map showing temperature anomalies year by year.</a:t>
            </a:r>
          </a:p>
          <a:p>
            <a:pPr lvl="0"/>
            <a:r>
              <a:rPr lang="en-IN" spc="300" dirty="0"/>
              <a:t>PCA analysis with explained variance and PCA visualization.</a:t>
            </a:r>
          </a:p>
          <a:p>
            <a:pPr lvl="0"/>
            <a:r>
              <a:rPr lang="en-IN" spc="300" dirty="0"/>
              <a:t>An interactive </a:t>
            </a:r>
            <a:r>
              <a:rPr lang="en-IN" spc="300" dirty="0" err="1"/>
              <a:t>Streamlit</a:t>
            </a:r>
            <a:r>
              <a:rPr lang="en-IN" spc="300" dirty="0"/>
              <a:t> + </a:t>
            </a:r>
            <a:r>
              <a:rPr lang="en-IN" spc="300" dirty="0" err="1"/>
              <a:t>Plotly</a:t>
            </a:r>
            <a:r>
              <a:rPr lang="en-IN" spc="300" dirty="0"/>
              <a:t> dashboard communicating the climate story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870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7668-3D0B-1392-6810-E5F7A31F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827405"/>
            <a:ext cx="11214100" cy="590931"/>
          </a:xfrm>
        </p:spPr>
        <p:txBody>
          <a:bodyPr/>
          <a:lstStyle/>
          <a:p>
            <a:r>
              <a:rPr lang="en-US" sz="3600" dirty="0"/>
              <a:t>SCOPE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DB0E9D-3E75-D92C-6E8A-F3F77CA4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52BAF-A3D9-FFF9-E3CB-13D4043D01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1820084"/>
            <a:ext cx="8279130" cy="4093243"/>
          </a:xfrm>
        </p:spPr>
        <p:txBody>
          <a:bodyPr/>
          <a:lstStyle/>
          <a:p>
            <a:pPr lvl="0"/>
            <a:r>
              <a:rPr lang="en-IN" spc="300" dirty="0" err="1"/>
              <a:t>Analyze</a:t>
            </a:r>
            <a:r>
              <a:rPr lang="en-IN" spc="300" dirty="0"/>
              <a:t> historical surface-temperature observations across countries.</a:t>
            </a:r>
          </a:p>
          <a:p>
            <a:pPr lvl="0"/>
            <a:r>
              <a:rPr lang="en-IN" spc="300" dirty="0"/>
              <a:t>Study long-term temporal and geographical temperature patterns.</a:t>
            </a:r>
          </a:p>
          <a:p>
            <a:pPr lvl="0"/>
            <a:r>
              <a:rPr lang="en-IN" spc="300" dirty="0"/>
              <a:t>Apply data preprocessing, EDA, statistical analysis, transformations, correlation analysis, and PCA.</a:t>
            </a:r>
          </a:p>
          <a:p>
            <a:pPr lvl="0"/>
            <a:r>
              <a:rPr lang="en-IN" spc="300" dirty="0"/>
              <a:t>Provide interactive exploration using country and year controls.</a:t>
            </a:r>
          </a:p>
          <a:p>
            <a:pPr lvl="0"/>
            <a:r>
              <a:rPr lang="en-IN" spc="300" dirty="0"/>
              <a:t>Compare temperature patterns across different periods and geographical regions.</a:t>
            </a:r>
          </a:p>
          <a:p>
            <a:pPr lvl="0"/>
            <a:r>
              <a:rPr lang="en-IN" spc="300" dirty="0"/>
              <a:t>Extend the project in the future by incorporating additional climate datasets such as CO₂ emissions and other environmental indicators.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249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55B8-7533-9973-FB65-F398AB17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860" y="400685"/>
            <a:ext cx="11214100" cy="590931"/>
          </a:xfrm>
        </p:spPr>
        <p:txBody>
          <a:bodyPr/>
          <a:lstStyle/>
          <a:p>
            <a:r>
              <a:rPr lang="en-US" sz="3600" dirty="0"/>
              <a:t>STORY/VISUALIZATION FLOW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627740-4017-1AC0-C4E5-808927F6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ABFB7-517D-D814-88AC-6D3D28EDF8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2180" y="1093216"/>
            <a:ext cx="6718300" cy="4093243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The Past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What did temperatures look like earlier in the timeline?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The Change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When does the warming trend become more pronounced?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Around the World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Do all countries show the same warming pattern?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A Century in </a:t>
            </a:r>
            <a:r>
              <a:rPr lang="en-IN" sz="1200" spc="300" dirty="0" err="1"/>
              <a:t>Colors</a:t>
            </a:r>
            <a:endParaRPr lang="en-IN" sz="1200" spc="3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Can the warming trend be understood at a glance?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Watch the World Warm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How do temperature anomalies change as the years advance?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Key Findings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What are the major insights revealed by the data?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6925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23A6-D3E9-0A83-2EFD-5AAAFC51C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254125"/>
            <a:ext cx="11214100" cy="590931"/>
          </a:xfrm>
        </p:spPr>
        <p:txBody>
          <a:bodyPr/>
          <a:lstStyle/>
          <a:p>
            <a:r>
              <a:rPr lang="en-US" sz="3600" dirty="0"/>
              <a:t>CONCLUSION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E2E69-C12C-9790-954F-43569095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81F3C-88D5-75BD-8AFF-C56055292D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133385"/>
            <a:ext cx="8638540" cy="4093243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spc="300" dirty="0"/>
              <a:t>The project transforms historical temperature records into an understandable visual narrative.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Data cleaning and statistical analysis provide the foundation for reliable visualizations.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Warming stripes, heatmaps, trend charts, and animated maps make long-term temperature changes visually accessible.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The final dashboard combines data science, visualization, and storytelling to communicate the progression of global temperature anomalies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718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200400"/>
            <a:ext cx="7551057" cy="2859313"/>
          </a:xfrm>
        </p:spPr>
        <p:txBody>
          <a:bodyPr>
            <a:normAutofit fontScale="90000"/>
          </a:bodyPr>
          <a:lstStyle/>
          <a:p>
            <a:r>
              <a:rPr lang="en-IN" sz="6000" b="1" dirty="0"/>
              <a:t>The Heat is On — Turning 100+ Years of Data into a Story.”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16c05727-aa75-4e4a-9b5f-8a80a1165891"/>
    <ds:schemaRef ds:uri="http://purl.org/dc/dcmitype/"/>
    <ds:schemaRef ds:uri="http://schemas.openxmlformats.org/package/2006/metadata/core-properties"/>
    <ds:schemaRef ds:uri="71af3243-3dd4-4a8d-8c0d-dd76da1f02a5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85</TotalTime>
  <Words>1094</Words>
  <Application>Microsoft Office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Arimo</vt:lpstr>
      <vt:lpstr>Arimo Bold</vt:lpstr>
      <vt:lpstr>Calibri</vt:lpstr>
      <vt:lpstr>Trade Gothic LT Pro</vt:lpstr>
      <vt:lpstr>Trebuchet MS</vt:lpstr>
      <vt:lpstr>Office Theme</vt:lpstr>
      <vt:lpstr>GLOBAL TEMPERTAURE ANOMALIES</vt:lpstr>
      <vt:lpstr>INTRODUCTION</vt:lpstr>
      <vt:lpstr>PROBLEM STATEMENT</vt:lpstr>
      <vt:lpstr>CHALLENGE</vt:lpstr>
      <vt:lpstr>OBJECTIVES</vt:lpstr>
      <vt:lpstr>DATASET DESCRIPTION</vt:lpstr>
      <vt:lpstr>TOOLS AND TECHNOLOGIES USED</vt:lpstr>
      <vt:lpstr>METHODOLOGY</vt:lpstr>
      <vt:lpstr>PowerPoint Presentation</vt:lpstr>
      <vt:lpstr>DASHBOARD VISION</vt:lpstr>
      <vt:lpstr>PowerPoint Presentation</vt:lpstr>
      <vt:lpstr>EXPECTED OUTCOME</vt:lpstr>
      <vt:lpstr>SCOPE</vt:lpstr>
      <vt:lpstr>STORY/VISUALIZATION FLOW</vt:lpstr>
      <vt:lpstr>CONCLUSION</vt:lpstr>
      <vt:lpstr>The Heat is On — Turning 100+ Years of Data into a Story.” 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Jayavanadhi V 25BAD039</dc:creator>
  <cp:lastModifiedBy>Jayavanadhi V 25BAD039</cp:lastModifiedBy>
  <cp:revision>2</cp:revision>
  <dcterms:created xsi:type="dcterms:W3CDTF">2026-08-18T17:34:20Z</dcterms:created>
  <dcterms:modified xsi:type="dcterms:W3CDTF">2026-08-18T18:59:49Z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